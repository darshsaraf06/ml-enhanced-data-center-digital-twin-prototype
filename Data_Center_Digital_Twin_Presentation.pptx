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4114800" cy="365760"/>
          </a:xfrm>
          <a:prstGeom prst="roundRect">
            <a:avLst/>
          </a:prstGeom>
          <a:solidFill>
            <a:srgbClr val="14284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2FE"/>
                </a:solidFill>
              </a:defRPr>
            </a:pPr>
            <a:r>
              <a:t>DATA CENTER INFRASTRUCTURE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A Machine Learning-Enhanced Digital Twin for Predictive Thermal Management and Energy Optimization in Data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A99AD"/>
                </a:solidFill>
              </a:defRPr>
            </a:pPr>
            <a:r>
              <a:t>A Software-Only Physics-Informed Framework for Early Hotspot Prediction &amp; Closed-Loop Proactive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3291840" cy="91440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18.4% Energy Savings</a:t>
            </a:r>
          </a:p>
          <a:p>
            <a:pPr>
              <a:defRPr sz="1200">
                <a:solidFill>
                  <a:srgbClr val="8A99AD"/>
                </a:solidFill>
              </a:defRPr>
            </a:pPr>
            <a:r>
              <a:t>vs. Conventional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303520"/>
            <a:ext cx="3291840" cy="914400"/>
          </a:xfrm>
          <a:prstGeom prst="roundRect">
            <a:avLst/>
          </a:prstGeom>
          <a:solidFill>
            <a:srgbClr val="121C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72.5% Fewer Hotspots</a:t>
            </a:r>
          </a:p>
          <a:p>
            <a:pPr>
              <a:defRPr sz="1200">
                <a:solidFill>
                  <a:srgbClr val="8A99AD"/>
                </a:solidFill>
              </a:defRPr>
            </a:pPr>
            <a:r>
              <a:t>Proactive SLA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5303520"/>
            <a:ext cx="3383280" cy="91440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C4DFF"/>
                </a:solidFill>
              </a:defRPr>
            </a:pPr>
            <a:r>
              <a:t>100% Software Simulation</a:t>
            </a:r>
          </a:p>
          <a:p>
            <a:pPr>
              <a:defRPr sz="1200">
                <a:solidFill>
                  <a:srgbClr val="8A99AD"/>
                </a:solidFill>
              </a:defRPr>
            </a:pPr>
            <a:r>
              <a:t>Python + Physics-Informed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1. Research Context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⚡ Explosive Compute Demand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• Massive surge in AI/LLM model training, inference, and cloud workloads.</a:t>
            </a:r>
            <a:br/>
            <a:br/>
            <a:r>
              <a:t>• Cooling infrastructure consumes 35%–45% of total facility electrical power.</a:t>
            </a:r>
            <a:br/>
            <a:br/>
            <a:r>
              <a:t>• High PUE (Power Usage Effectiveness) directly impacts operational cost &amp; carbon footprint.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1744"/>
                </a:solidFill>
              </a:defRPr>
            </a:pPr>
            <a:r>
              <a:t>🔥 Limits of Reactive Control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• Traditional systems respond AFTER temperatures breach high safety thresholds.</a:t>
            </a:r>
            <a:br/>
            <a:br/>
            <a:r>
              <a:t>• High thermal inertia delays cooling response, causing severe thermal stress.</a:t>
            </a:r>
            <a:br/>
            <a:br/>
            <a:r>
              <a:t>• Results in over-cooling safety margins, wasting massive cooling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🤖 Predictive Digital Twin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• Digital Twin models physics of heat generation &amp; airflow.</a:t>
            </a:r>
            <a:br/>
            <a:br/>
            <a:r>
              <a:t>• ML forecasts thermal hotspots 5–30 minutes BEFORE they occur.</a:t>
            </a:r>
            <a:br/>
            <a:br/>
            <a:r>
              <a:t>• Counterfactual simulator tests cooling &amp; workload actions proactive to prevent hotspots while minimizing 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METHODOLOGICAL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2. Central Research Questions (RQs)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CORE RESEARCH QUESTION:</a:t>
            </a:r>
          </a:p>
          <a:p>
            <a:pPr>
              <a:defRPr sz="1500" b="1">
                <a:solidFill>
                  <a:srgbClr val="F0F4F8"/>
                </a:solidFill>
              </a:defRPr>
            </a:pPr>
            <a:r>
              <a:t>"Can an ML-enhanced Digital Twin predict thermal hotspots in a data center early enough to enable proactive cooling and workload optimization, while reducing cooling energy compared with conventional reactive control?"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RQ1: Forecast Accuracy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How accurately can ML time-series models predict rack core &amp; outlet temperatures across 5m, 15m, and 30m horizons?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743200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4DFF"/>
                </a:solidFill>
              </a:defRPr>
            </a:pPr>
            <a:r>
              <a:t>RQ2: Physics + ML Synergy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Does combining a physics-based thermal differential model with ML improve prediction reliability over ML alone?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RQ3: Early Hotspot Warning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How early can localized thermal hotspots be identified before SLA threshold exceedance occurs?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4DFF"/>
                </a:solidFill>
              </a:defRPr>
            </a:pPr>
            <a:r>
              <a:t>RQ4: Energy Savings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What quantitative reduction in cooling energy (kWh) and PUE is achieved vs. fixed and reactive control?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RQ5: Safety Trade-offs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What is the pareto optimal trade-off between cooling energy minimization and thermal safety violation avoidance?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212080"/>
            <a:ext cx="5257800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4DFF"/>
                </a:solidFill>
              </a:defRPr>
            </a:pPr>
            <a:r>
              <a:t>RQ6: Generalizability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Does the closed-loop optimization maintain stability under unseen operating regimes (e.g. LLM spikes, fan failure)?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3. System Architecture: 4-Layer Closed-Loop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LAYER 1: DIGITAL TWIN</a:t>
            </a:r>
          </a:p>
          <a:p>
            <a:pPr>
              <a:defRPr sz="1400" b="1">
                <a:solidFill>
                  <a:srgbClr val="F0F4F8"/>
                </a:solidFill>
              </a:defRPr>
            </a:pPr>
            <a:r>
              <a:t>Physics Thermal Sim</a:t>
            </a:r>
          </a:p>
          <a:p>
            <a:br/>
            <a:pPr>
              <a:defRPr sz="1200">
                <a:solidFill>
                  <a:srgbClr val="8A99AD"/>
                </a:solidFill>
              </a:defRPr>
            </a:pPr>
            <a:r>
              <a:t>Numerical differential RC model tracking server power, inlet/outlet temps, fan speeds, and inter-rack heat exchange.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A99AD"/>
                </a:solidFill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LAYER 2: ML PREDICTOR</a:t>
            </a:r>
          </a:p>
          <a:p>
            <a:pPr>
              <a:defRPr sz="1400" b="1">
                <a:solidFill>
                  <a:srgbClr val="F0F4F8"/>
                </a:solidFill>
              </a:defRPr>
            </a:pPr>
            <a:r>
              <a:t>Multi-Horizon Forecast</a:t>
            </a:r>
          </a:p>
          <a:p>
            <a:br/>
            <a:pPr>
              <a:defRPr sz="1200">
                <a:solidFill>
                  <a:srgbClr val="8A99AD"/>
                </a:solidFill>
              </a:defRPr>
            </a:pPr>
            <a:r>
              <a:t>Predicts rack thermal states at T+5m, T+15m, T+30m &amp; calculates hotspot risk probability P(T &gt; 33°C).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A99AD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1744"/>
                </a:solidFill>
              </a:defRPr>
            </a:pPr>
            <a:r>
              <a:t>LAYER 3: OPTIMIZER</a:t>
            </a:r>
          </a:p>
          <a:p>
            <a:pPr>
              <a:defRPr sz="1400" b="1">
                <a:solidFill>
                  <a:srgbClr val="F0F4F8"/>
                </a:solidFill>
              </a:defRPr>
            </a:pPr>
            <a:r>
              <a:t>Counterfactual Engine</a:t>
            </a:r>
          </a:p>
          <a:p>
            <a:br/>
            <a:pPr>
              <a:defRPr sz="1200">
                <a:solidFill>
                  <a:srgbClr val="8A99AD"/>
                </a:solidFill>
              </a:defRPr>
            </a:pPr>
            <a:r>
              <a:t>Simulates candidate interventions (airflow boost, chiller adjustment, load migration) side-by-side in sandbox clones.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A99AD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LAYER 4: CONTROL LOOP</a:t>
            </a:r>
          </a:p>
          <a:p>
            <a:pPr>
              <a:defRPr sz="1400" b="1">
                <a:solidFill>
                  <a:srgbClr val="F0F4F8"/>
                </a:solidFill>
              </a:defRPr>
            </a:pPr>
            <a:r>
              <a:t>Closed-Loop Intervention</a:t>
            </a:r>
          </a:p>
          <a:p>
            <a:br/>
            <a:pPr>
              <a:defRPr sz="1200">
                <a:solidFill>
                  <a:srgbClr val="8A99AD"/>
                </a:solidFill>
              </a:defRPr>
            </a:pPr>
            <a:r>
              <a:t>Selects lowest-cost safe intervention and updates live Digital Twin state proactively before hotspot occurs.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SIMULATION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4. Physics-Informed Thermal RC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GOVERNING DIFFERENTIAL THERMAL RC EQUATION:</a:t>
            </a:r>
          </a:p>
          <a:p>
            <a:pPr>
              <a:defRPr sz="1800" b="1">
                <a:solidFill>
                  <a:srgbClr val="00E676"/>
                </a:solidFill>
              </a:defRPr>
            </a:pPr>
            <a:r>
              <a:t>C_i · (dT_i / dt) = Q_i - UA_i · (T_i - T_cool) + ∑ K_ij · (T_j - T_i) + Q_ambient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25780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4DFF"/>
                </a:solidFill>
              </a:defRPr>
            </a:pPr>
            <a:r>
              <a:t>Variables &amp; Thermal Parameters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• T_i: Core temperature of rack i (°C)</a:t>
            </a:r>
            <a:br/>
            <a:r>
              <a:t>• Q_i: IT Server power heat generation (kW)</a:t>
            </a:r>
            <a:br/>
            <a:r>
              <a:t>• C_i: Thermal capacitance of rack structure (kJ/K)</a:t>
            </a:r>
            <a:br/>
            <a:r>
              <a:t>• UA_i: Heat dissipation effectiveness to cooling air</a:t>
            </a:r>
            <a:br/>
            <a:r>
              <a:t>• T_cool: Supply air temperature from CRAH (18°C)</a:t>
            </a:r>
            <a:br/>
            <a:r>
              <a:t>• K_ij: Inter-rack spatial thermal coupling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2834640"/>
            <a:ext cx="5257800" cy="338328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AB00"/>
                </a:solidFill>
              </a:defRPr>
            </a:pPr>
            <a:r>
              <a:t>Data Center Spatial Configuration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• 8-Rack Layout split into Zone A (Racks 1–4) &amp; Zone B (Racks 5–8).</a:t>
            </a:r>
            <a:br/>
            <a:r>
              <a:t>• Hot Aisle / Cold Aisle separation modeling.</a:t>
            </a:r>
            <a:br/>
            <a:r>
              <a:t>• Dynamic server power curve: P_server = P_idle + (CPU_load % * P_max).</a:t>
            </a:r>
            <a:br/>
            <a:r>
              <a:t>• Numerical integration step solved live in Python/JS without external CFD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ML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5. Machine Learning Predictive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Multi-Model Forecast Evaluation Matrix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• XGBoost Regressor (Selected Primary Model):</a:t>
            </a:r>
            <a:br/>
            <a:r>
              <a:t>   - MAE: 0.42 °C | RMSE: 0.58 °C | R²: 0.984 | Latency: 4.2 ms</a:t>
            </a:r>
            <a:br/>
            <a:r>
              <a:t>   - Exceptional balance of inference speed &amp; non-linear precision.</a:t>
            </a:r>
            <a:br/>
            <a:br/>
            <a:r>
              <a:t>• LSTM Deep Recurrent Neural Network:</a:t>
            </a:r>
            <a:br/>
            <a:r>
              <a:t>   - MAE: 0.38 °C | RMSE: 0.49 °C | R²: 0.989 | Latency: 28.5 ms</a:t>
            </a:r>
            <a:br/>
            <a:r>
              <a:t>   - Highest accuracy for long temporal window forecasting.</a:t>
            </a:r>
            <a:br/>
            <a:br/>
            <a:r>
              <a:t>• Random Forest Regressor:</a:t>
            </a:r>
            <a:br/>
            <a:r>
              <a:t>   - MAE: 0.56 °C | RMSE: 0.74 °C | R²: 0.971 | Latency: 12.8 ms</a:t>
            </a:r>
            <a:br/>
            <a:br/>
            <a:r>
              <a:t>• Linear Regression Baseline:</a:t>
            </a:r>
            <a:br/>
            <a:r>
              <a:t>   - MAE: 1.15 °C | RMSE: 1.62 °C | R²: 0.892 | Latency: 0.8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1744"/>
                </a:solidFill>
              </a:defRPr>
            </a:pPr>
            <a:r>
              <a:t>🔥 Hotspot Classifier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• Calculates risk probability P(T_rack &gt; 33.0°C) across 5m, 15m, and 30m horizons.</a:t>
            </a:r>
            <a:br/>
            <a:br/>
            <a:r>
              <a:t>• Feature Engineering:</a:t>
            </a:r>
            <a:br/>
            <a:r>
              <a:t>  - Lagged temperatures [T_t, T_t-1, T_t-2]</a:t>
            </a:r>
            <a:br/>
            <a:r>
              <a:t>  - CPU load trajectory &amp; rate of change (dT/dt)</a:t>
            </a:r>
            <a:br/>
            <a:r>
              <a:t>  - Ambient &amp; supply temperature delta</a:t>
            </a:r>
            <a:br/>
            <a:r>
              <a:t>  - Local fan speed CFM</a:t>
            </a:r>
            <a:br/>
            <a:br/>
            <a:r>
              <a:t>• Early Warning Trigger:</a:t>
            </a:r>
            <a:br/>
            <a:r>
              <a:t>  Flags warning when risk exceeds 60%.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6. Counterfactual Decision Engine (Core USP)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MULTI-OBJECTIVE COST FUNCTION:</a:t>
            </a:r>
          </a:p>
          <a:p>
            <a:pPr>
              <a:defRPr sz="1700" b="1">
                <a:solidFill>
                  <a:srgbClr val="F0F4F8"/>
                </a:solidFill>
              </a:defRPr>
            </a:pPr>
            <a:r>
              <a:t>J(a) = w₁ · E_cooling(a) + w₂ · T_peak(a) + w₃ · H_risk(a) + w₄ · SLA_violations(a)</a:t>
            </a:r>
          </a:p>
          <a:p>
            <a:pPr>
              <a:defRPr sz="1100">
                <a:solidFill>
                  <a:srgbClr val="8A99AD"/>
                </a:solidFill>
              </a:defRPr>
            </a:pPr>
            <a:r>
              <a:t>Subject to constraint: T_rack &lt; T_max (33.0 °C) | Weights: w1=0.35, w2=0.30, w3=0.20, w4=0.15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3474720"/>
          </a:xfrm>
          <a:prstGeom prst="roundRect">
            <a:avLst/>
          </a:prstGeom>
          <a:solidFill>
            <a:srgbClr val="121C30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1744"/>
                </a:solidFill>
              </a:defRPr>
            </a:pPr>
            <a:r>
              <a:t>Action A: Status Quo</a:t>
            </a:r>
          </a:p>
          <a:p>
            <a:br/>
            <a:pPr>
              <a:defRPr sz="1000">
                <a:solidFill>
                  <a:srgbClr val="F0F4F8"/>
                </a:solidFill>
              </a:defRPr>
            </a:pPr>
            <a:r>
              <a:t>No intervention. Maintain current fixed cooling &amp; workload.</a:t>
            </a:r>
          </a:p>
          <a:p>
            <a:br/>
            <a:pPr>
              <a:defRPr sz="1100" b="1">
                <a:solidFill>
                  <a:srgbClr val="FF1744"/>
                </a:solidFill>
              </a:defRPr>
            </a:pPr>
            <a:r>
              <a:t>Risk: High (87%)</a:t>
            </a:r>
            <a:br/>
            <a:r>
              <a:t>Energy Delta: 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743200"/>
            <a:ext cx="2011680" cy="347472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Action B: Airflow Boost</a:t>
            </a:r>
          </a:p>
          <a:p>
            <a:br/>
            <a:pPr>
              <a:defRPr sz="1000">
                <a:solidFill>
                  <a:srgbClr val="F0F4F8"/>
                </a:solidFill>
              </a:defRPr>
            </a:pPr>
            <a:r>
              <a:t>Increase CRAH fan speed by +15% across Zone B.</a:t>
            </a:r>
          </a:p>
          <a:p>
            <a:br/>
            <a:pPr>
              <a:defRPr sz="1100" b="1">
                <a:solidFill>
                  <a:srgbClr val="FFAB00"/>
                </a:solidFill>
              </a:defRPr>
            </a:pPr>
            <a:r>
              <a:t>Risk: Low (18%)</a:t>
            </a:r>
            <a:br/>
            <a:r>
              <a:t>Energy Delta: +8.5%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2743200"/>
            <a:ext cx="2011680" cy="347472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AB00"/>
                </a:solidFill>
              </a:defRPr>
            </a:pPr>
            <a:r>
              <a:t>Action C: Chiller Boost</a:t>
            </a:r>
          </a:p>
          <a:p>
            <a:br/>
            <a:pPr>
              <a:defRPr sz="1000">
                <a:solidFill>
                  <a:srgbClr val="F0F4F8"/>
                </a:solidFill>
              </a:defRPr>
            </a:pPr>
            <a:r>
              <a:t>Drop CRAH air supply temperature by -2.2°C.</a:t>
            </a:r>
          </a:p>
          <a:p>
            <a:br/>
            <a:pPr>
              <a:defRPr sz="1100" b="1">
                <a:solidFill>
                  <a:srgbClr val="FFAB00"/>
                </a:solidFill>
              </a:defRPr>
            </a:pPr>
            <a:r>
              <a:t>Risk: Med (32%)</a:t>
            </a:r>
            <a:br/>
            <a:r>
              <a:t>Energy Delta: +12.4%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2743200"/>
            <a:ext cx="2011680" cy="3474720"/>
          </a:xfrm>
          <a:prstGeom prst="roundRect">
            <a:avLst/>
          </a:prstGeom>
          <a:solidFill>
            <a:srgbClr val="121C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Action D: Workload Shift</a:t>
            </a:r>
          </a:p>
          <a:p>
            <a:br/>
            <a:pPr>
              <a:defRPr sz="1000">
                <a:solidFill>
                  <a:srgbClr val="F0F4F8"/>
                </a:solidFill>
              </a:defRPr>
            </a:pPr>
            <a:r>
              <a:t>Migrate 18% CPU load from Rack 07 to Rack 02.</a:t>
            </a:r>
          </a:p>
          <a:p>
            <a:br/>
            <a:pPr>
              <a:defRPr sz="1100" b="1">
                <a:solidFill>
                  <a:srgbClr val="00E676"/>
                </a:solidFill>
              </a:defRPr>
            </a:pPr>
            <a:r>
              <a:t>Risk: Low (12%)</a:t>
            </a:r>
            <a:br/>
            <a:r>
              <a:t>Energy Delta: +0.9%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2743200"/>
            <a:ext cx="2011680" cy="347472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Action E: Proactive Optimal</a:t>
            </a:r>
          </a:p>
          <a:p>
            <a:br/>
            <a:pPr>
              <a:defRPr sz="1000">
                <a:solidFill>
                  <a:srgbClr val="F0F4F8"/>
                </a:solidFill>
              </a:defRPr>
            </a:pPr>
            <a:r>
              <a:t>Dynamic load balancing + minor targeted fan boost.</a:t>
            </a:r>
          </a:p>
          <a:p>
            <a:br/>
            <a:pPr>
              <a:defRPr sz="1100" b="1">
                <a:solidFill>
                  <a:srgbClr val="00F2FE"/>
                </a:solidFill>
              </a:defRPr>
            </a:pPr>
            <a:r>
              <a:t>Risk: Zero (0%)</a:t>
            </a:r>
            <a:br/>
            <a:r>
              <a:t>Energy Delta: -4.2%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RESEARCH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7. Experimental &amp; Ablation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Experiment 1: Digital Twin Validation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Compare physics differential model against expected thermal behavior &amp; workload step responses.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Experiment 2: ML Model Benchmark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Evaluate Linear Regression, Random Forest, XGBoost, and LSTM on MAE, RMSE, R², and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AB00"/>
                </a:solidFill>
              </a:defRPr>
            </a:pPr>
            <a:r>
              <a:t>Experiment 3: Forecast Horizon Decay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Quantify prediction error degradation across 5m, 10m, 15m, 30m, and 60m horizons.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0632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AB00"/>
                </a:solidFill>
              </a:defRPr>
            </a:pPr>
            <a:r>
              <a:t>Experiment 4: Control Strategy Comparison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Head-to-head evaluation: Baseline Fixed vs. Reactive Threshold vs. Proposed ML Digital Twin.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4DFF"/>
                </a:solidFill>
              </a:defRPr>
            </a:pPr>
            <a:r>
              <a:t>Experiment 5: Workload Stress Scenarios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Test robustness under AI LLM spikes, CRAH fan degradation, summer heatwaves, &amp; load skew.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663440"/>
            <a:ext cx="5257800" cy="141732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4DFF"/>
                </a:solidFill>
              </a:defRPr>
            </a:pPr>
            <a:r>
              <a:t>Experiment 6: Quantitative Ablation Study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Isolate contributions of Physics-only, ML-only, Physics+ML, and Physics+ML+Optimization.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8. Prototype Implementation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Ablation &amp; Comparative Performance Summary Table</a:t>
            </a:r>
          </a:p>
          <a:p>
            <a:br/>
            <a:pPr>
              <a:defRPr sz="1200" b="1">
                <a:solidFill>
                  <a:srgbClr val="F0F4F8"/>
                </a:solidFill>
              </a:defRPr>
            </a:pPr>
            <a:r>
              <a:t>Approach                       Cooling Energy (Wh)    Peak Temp (°C)    SLA Hotspot Violations    Avg PUE    RMSE (°C)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1. Baseline (Fixed 100% Cooling)      450.2 Wh               34.2 °C                    18 violations           1.48       2.45 °C</a:t>
            </a:r>
            <a:br/>
            <a:r>
              <a:t>2. Reactive Threshold Control          382.4 Wh (-15.0%)      33.4 °C                    11 violations           1.36       1.82 °C</a:t>
            </a:r>
            <a:br/>
            <a:r>
              <a:t>3. Proposed ML Digital Twin (Proactive) 367.3 Wh (-18.4%)      30.8 °C                     5 violations (-72.5%)   1.21       0.58 °C</a:t>
            </a:r>
          </a:p>
          <a:p>
            <a:br/>
            <a:pPr>
              <a:defRPr sz="1200">
                <a:solidFill>
                  <a:srgbClr val="00F2FE"/>
                </a:solidFill>
              </a:defRPr>
            </a:pPr>
            <a:r>
              <a:t>Key Experimental Insights:</a:t>
            </a:r>
            <a:br/>
            <a:r>
              <a:t>• Proactive ML control reduces cooling energy by 18.4% compared to fixed baseline cooling.</a:t>
            </a:r>
            <a:br/>
            <a:r>
              <a:t>• Eliminates 72.5% of thermal SLA violation incidents by shifting workload before temperatures rise.</a:t>
            </a:r>
            <a:br/>
            <a:r>
              <a:t>• Achieves a facility PUE of 1.21 (down from 1.48 baseline), demonstrating strong academic &amp; practical utility.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CONCLUSION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</a:defRPr>
            </a:pPr>
            <a:r>
              <a:t>9. Research Contributions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🌟 Core Academic Novelty &amp; USPs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1. Physics-Informed ML Integration:</a:t>
            </a:r>
            <a:br/>
            <a:r>
              <a:t>   Combines RC differential thermal physics with ML forecasting to avoid black-box failures.</a:t>
            </a:r>
            <a:br/>
            <a:br/>
            <a:r>
              <a:t>2. Counterfactual Sandbox Safety:</a:t>
            </a:r>
            <a:br/>
            <a:r>
              <a:t>   Evaluates interventions in twin clones before deployment, eliminating risky live RL trial-and-error.</a:t>
            </a:r>
            <a:br/>
            <a:br/>
            <a:r>
              <a:t>3. 100% Software Reproducibility:</a:t>
            </a:r>
            <a:br/>
            <a:r>
              <a:t>   Pure Python implementation requiring zero physical sensors or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2375" y="1463040"/>
            <a:ext cx="5257800" cy="4754880"/>
          </a:xfrm>
          <a:prstGeom prst="roundRect">
            <a:avLst/>
          </a:prstGeom>
          <a:solidFill>
            <a:srgbClr val="121C30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4DFF"/>
                </a:solidFill>
              </a:defRPr>
            </a:pPr>
            <a:r>
              <a:t>🔮 Future Work &amp; Scaling</a:t>
            </a:r>
          </a:p>
          <a:p>
            <a:br/>
            <a:pPr>
              <a:defRPr sz="1200">
                <a:solidFill>
                  <a:srgbClr val="F0F4F8"/>
                </a:solidFill>
              </a:defRPr>
            </a:pPr>
            <a:r>
              <a:t>• Extension to Reinforcement Learning (DQN / SAC):</a:t>
            </a:r>
            <a:br/>
            <a:r>
              <a:t>   Compare Model Predictive Control against continuous Deep RL algorithms.</a:t>
            </a:r>
            <a:br/>
            <a:br/>
            <a:r>
              <a:t>• High-Fidelity 3D CFD Simulation Coupling:</a:t>
            </a:r>
            <a:br/>
            <a:r>
              <a:t>   Integrate simplified OpenFOAM or ANSYS CFD snapshots into the digital twin.</a:t>
            </a:r>
            <a:br/>
            <a:br/>
            <a:r>
              <a:t>• Direct-to-Chip Liquid Cooling Support:</a:t>
            </a:r>
            <a:br/>
            <a:r>
              <a:t>   Extend physics equations for hybrid air + liquid cooling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